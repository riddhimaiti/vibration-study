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9" r:id="rId4"/>
    <p:sldId id="267" r:id="rId5"/>
    <p:sldId id="261" r:id="rId6"/>
    <p:sldId id="268" r:id="rId7"/>
    <p:sldId id="262" r:id="rId8"/>
    <p:sldId id="269" r:id="rId9"/>
    <p:sldId id="272" r:id="rId10"/>
    <p:sldId id="273" r:id="rId11"/>
    <p:sldId id="270" r:id="rId12"/>
    <p:sldId id="263" r:id="rId13"/>
    <p:sldId id="264" r:id="rId14"/>
    <p:sldId id="265" r:id="rId15"/>
    <p:sldId id="275" r:id="rId16"/>
    <p:sldId id="274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7"/>
  </p:normalViewPr>
  <p:slideViewPr>
    <p:cSldViewPr snapToGrid="0" snapToObjects="1">
      <p:cViewPr varScale="1">
        <p:scale>
          <a:sx n="103" d="100"/>
          <a:sy n="103" d="100"/>
        </p:scale>
        <p:origin x="18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11A24-ADEF-754F-88DF-C663EA8F6AAB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A6D73-1033-4642-BD61-BDCE75C37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61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1A6D73-1033-4642-BD61-BDCE75C3765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937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3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7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4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13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72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1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42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592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65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787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2449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417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0966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49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12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55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5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074" y="191386"/>
            <a:ext cx="6751675" cy="2147777"/>
          </a:xfrm>
        </p:spPr>
        <p:txBody>
          <a:bodyPr/>
          <a:lstStyle/>
          <a:p>
            <a:pPr algn="l"/>
            <a:r>
              <a:rPr sz="3600" dirty="0">
                <a:solidFill>
                  <a:srgbClr val="0070C0"/>
                </a:solidFill>
              </a:rPr>
              <a:t>Vibration Study of 2.2 Road (Gymkhana to Nehru Museum), IIT Kharagpur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2200" b="1" dirty="0">
                <a:solidFill>
                  <a:schemeClr val="accent2">
                    <a:lumMod val="75000"/>
                  </a:schemeClr>
                </a:solidFill>
              </a:rPr>
              <a:t>Using MPU6050, ADXL345 and GPS on a Toto</a:t>
            </a:r>
          </a:p>
          <a:p>
            <a:r>
              <a:rPr dirty="0"/>
              <a:t>C2G15 Group: P </a:t>
            </a:r>
            <a:r>
              <a:rPr dirty="0" err="1"/>
              <a:t>Prajit</a:t>
            </a:r>
            <a:r>
              <a:rPr dirty="0"/>
              <a:t>, Riddhi </a:t>
            </a:r>
            <a:r>
              <a:rPr dirty="0" err="1"/>
              <a:t>Maiti</a:t>
            </a:r>
            <a:r>
              <a:rPr dirty="0"/>
              <a:t>, </a:t>
            </a:r>
            <a:r>
              <a:rPr dirty="0" err="1"/>
              <a:t>Nare</a:t>
            </a:r>
            <a:r>
              <a:rPr dirty="0"/>
              <a:t> </a:t>
            </a:r>
            <a:r>
              <a:rPr dirty="0" err="1"/>
              <a:t>Mahith</a:t>
            </a:r>
            <a:r>
              <a:rPr dirty="0"/>
              <a:t> Sai</a:t>
            </a:r>
          </a:p>
          <a:p>
            <a:r>
              <a:rPr dirty="0"/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Road roughness and defects cause vehicle vibrations that affect comfort and durability.</a:t>
            </a:r>
          </a:p>
          <a:p>
            <a:r>
              <a:rPr dirty="0"/>
              <a:t>The 2.2 Road between Gymkhana and Nehru Museum is frequently used by </a:t>
            </a:r>
            <a:r>
              <a:rPr dirty="0" err="1"/>
              <a:t>totos</a:t>
            </a:r>
            <a:r>
              <a:rPr dirty="0"/>
              <a:t>.</a:t>
            </a:r>
            <a:endParaRPr lang="en-US" dirty="0"/>
          </a:p>
          <a:p>
            <a:r>
              <a:rPr lang="en-US" u="sng" dirty="0"/>
              <a:t>Goal</a:t>
            </a:r>
            <a:r>
              <a:rPr dirty="0"/>
              <a:t>: </a:t>
            </a:r>
            <a:r>
              <a:rPr lang="en-US" dirty="0"/>
              <a:t>To q</a:t>
            </a:r>
            <a:r>
              <a:rPr dirty="0"/>
              <a:t>uantify vibration levels, identify hotspots, and provide actionable maintenance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</a:t>
            </a:r>
            <a:r>
              <a:rPr dirty="0"/>
              <a:t>cquire synchronized 3-axis acceleration and GPS data along 2.2 Road.</a:t>
            </a:r>
          </a:p>
          <a:p>
            <a:r>
              <a:rPr lang="en-US" dirty="0"/>
              <a:t>To p</a:t>
            </a:r>
            <a:r>
              <a:rPr dirty="0"/>
              <a:t>rocess and filter data to remove bias and align time.</a:t>
            </a:r>
          </a:p>
          <a:p>
            <a:r>
              <a:rPr lang="en-US" dirty="0"/>
              <a:t>To c</a:t>
            </a:r>
            <a:r>
              <a:rPr dirty="0"/>
              <a:t>ompute RMS and VDV vibration metrics.</a:t>
            </a:r>
          </a:p>
          <a:p>
            <a:r>
              <a:rPr lang="en-US" dirty="0"/>
              <a:t>To g</a:t>
            </a:r>
            <a:r>
              <a:rPr dirty="0"/>
              <a:t>enerate vibration heatmap showing hotspots.</a:t>
            </a:r>
          </a:p>
          <a:p>
            <a:r>
              <a:rPr lang="en-US" dirty="0"/>
              <a:t>To c</a:t>
            </a:r>
            <a:r>
              <a:rPr dirty="0"/>
              <a:t>ompare MPU6050 and ADXL345 for consistency.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37C5D-FD39-C61C-2CF3-51E00859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Area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DCEA3A-A8BC-C16F-EFB8-F89C450D4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2594344"/>
            <a:ext cx="7653079" cy="335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358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Equipment &amp;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MPU6050: 3-axis accelerometer + gyroscope (±2–16g)</a:t>
            </a:r>
          </a:p>
          <a:p>
            <a:r>
              <a:rPr dirty="0"/>
              <a:t>ADXL345: 3-axis accelerometer (±2–16g)</a:t>
            </a:r>
          </a:p>
          <a:p>
            <a:r>
              <a:rPr dirty="0"/>
              <a:t>GPS NEO-6M: 1–10 Hz NMEA data logging</a:t>
            </a:r>
          </a:p>
          <a:p>
            <a:r>
              <a:rPr dirty="0"/>
              <a:t>Arduino Uno: Data acquisition &amp; timestamping</a:t>
            </a:r>
          </a:p>
          <a:p>
            <a:r>
              <a:rPr dirty="0"/>
              <a:t>Laptop: Python, Pandas, Matplotlib, Folium for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BCDED-C572-160D-0B8F-AB453669D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E16519-D407-BAD3-CEA6-B4C7BE846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6764" y="1223674"/>
            <a:ext cx="2931804" cy="5539188"/>
          </a:xfrm>
        </p:spPr>
      </p:pic>
    </p:spTree>
    <p:extLst>
      <p:ext uri="{BB962C8B-B14F-4D97-AF65-F5344CB8AC3E}">
        <p14:creationId xmlns:p14="http://schemas.microsoft.com/office/powerpoint/2010/main" val="1195289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07806"/>
            <a:ext cx="6347714" cy="4733558"/>
          </a:xfrm>
        </p:spPr>
        <p:txBody>
          <a:bodyPr/>
          <a:lstStyle/>
          <a:p>
            <a:r>
              <a:rPr dirty="0"/>
              <a:t>Time-series plots show vibration peaks at bumps.</a:t>
            </a:r>
          </a:p>
        </p:txBody>
      </p:sp>
      <p:pic>
        <p:nvPicPr>
          <p:cNvPr id="6" name="image9.png">
            <a:extLst>
              <a:ext uri="{FF2B5EF4-FFF2-40B4-BE49-F238E27FC236}">
                <a16:creationId xmlns:a16="http://schemas.microsoft.com/office/drawing/2014/main" id="{8ED6A6C3-83A1-F71D-7A93-3AE4D5B9CF8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09598" y="1818168"/>
            <a:ext cx="5844365" cy="3444948"/>
          </a:xfrm>
          <a:prstGeom prst="rect">
            <a:avLst/>
          </a:prstGeom>
          <a:ln/>
        </p:spPr>
      </p:pic>
      <p:pic>
        <p:nvPicPr>
          <p:cNvPr id="7" name="image8.png">
            <a:extLst>
              <a:ext uri="{FF2B5EF4-FFF2-40B4-BE49-F238E27FC236}">
                <a16:creationId xmlns:a16="http://schemas.microsoft.com/office/drawing/2014/main" id="{34027AD4-5884-13D1-D33A-9412537D6852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09598" y="5348177"/>
            <a:ext cx="5993221" cy="1391393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43AE-6BBC-5B0A-D6B8-36A7F2C67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0BA3B-4994-B68B-6774-87005CF9C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03498"/>
            <a:ext cx="6347714" cy="4637865"/>
          </a:xfrm>
        </p:spPr>
        <p:txBody>
          <a:bodyPr/>
          <a:lstStyle/>
          <a:p>
            <a:r>
              <a:rPr lang="en-IN" dirty="0"/>
              <a:t>Red circles indicate road irregularities.</a:t>
            </a:r>
          </a:p>
          <a:p>
            <a:endParaRPr lang="en-US" dirty="0"/>
          </a:p>
        </p:txBody>
      </p:sp>
      <p:pic>
        <p:nvPicPr>
          <p:cNvPr id="4" name="image7.png">
            <a:extLst>
              <a:ext uri="{FF2B5EF4-FFF2-40B4-BE49-F238E27FC236}">
                <a16:creationId xmlns:a16="http://schemas.microsoft.com/office/drawing/2014/main" id="{77DEF674-E530-B810-59AA-59328B631FD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48856" y="1922423"/>
            <a:ext cx="8846288" cy="432597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042041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880F-F90D-9222-946B-614800EC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03312-30F8-70C4-C5ED-8C34F2B06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6.png">
            <a:extLst>
              <a:ext uri="{FF2B5EF4-FFF2-40B4-BE49-F238E27FC236}">
                <a16:creationId xmlns:a16="http://schemas.microsoft.com/office/drawing/2014/main" id="{544FC1E1-620A-2120-9829-E0F00373390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27591" y="1424763"/>
            <a:ext cx="8867553" cy="434871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94929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1D16-077B-B158-C1CB-DDBAA03CA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image4.png">
            <a:extLst>
              <a:ext uri="{FF2B5EF4-FFF2-40B4-BE49-F238E27FC236}">
                <a16:creationId xmlns:a16="http://schemas.microsoft.com/office/drawing/2014/main" id="{08DD17AC-B4EB-BE8F-549D-FE62B1CC844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55181" y="1765005"/>
            <a:ext cx="8633637" cy="460389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595604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2DB15-7955-02DB-E286-D0C707AA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10ED3-DD50-EB63-628D-B159A1813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371600"/>
            <a:ext cx="6347714" cy="4669763"/>
          </a:xfrm>
        </p:spPr>
        <p:txBody>
          <a:bodyPr/>
          <a:lstStyle/>
          <a:p>
            <a:r>
              <a:rPr lang="en-IN" dirty="0"/>
              <a:t>Data collection conducted using Toto-mounted setup.</a:t>
            </a:r>
          </a:p>
          <a:p>
            <a:r>
              <a:rPr lang="en-IN" dirty="0"/>
              <a:t>Good correspondence observed between sensors.</a:t>
            </a:r>
          </a:p>
          <a:p>
            <a:endParaRPr lang="en-US" dirty="0"/>
          </a:p>
        </p:txBody>
      </p:sp>
      <p:pic>
        <p:nvPicPr>
          <p:cNvPr id="4" name="image5.jpg">
            <a:extLst>
              <a:ext uri="{FF2B5EF4-FFF2-40B4-BE49-F238E27FC236}">
                <a16:creationId xmlns:a16="http://schemas.microsoft.com/office/drawing/2014/main" id="{48FBBDDA-2CDD-9EB8-24CB-E9CCB31C248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81827" y="2806995"/>
            <a:ext cx="3939325" cy="3234369"/>
          </a:xfrm>
          <a:prstGeom prst="rect">
            <a:avLst/>
          </a:prstGeom>
          <a:ln/>
        </p:spPr>
      </p:pic>
      <p:pic>
        <p:nvPicPr>
          <p:cNvPr id="5" name="image1.jpg">
            <a:extLst>
              <a:ext uri="{FF2B5EF4-FFF2-40B4-BE49-F238E27FC236}">
                <a16:creationId xmlns:a16="http://schemas.microsoft.com/office/drawing/2014/main" id="{3D02D769-F6D9-0318-B07E-F9C5B6C430A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822846" y="2806994"/>
            <a:ext cx="3939326" cy="323436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8030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Toto suspension amplifies small vibrations.</a:t>
            </a:r>
          </a:p>
          <a:p>
            <a:r>
              <a:rPr dirty="0"/>
              <a:t>Sensor redundancy improved confidence.</a:t>
            </a:r>
          </a:p>
          <a:p>
            <a:r>
              <a:rPr dirty="0"/>
              <a:t>GPS 1 Hz resolution limits spatial accuracy (~3–5 m).</a:t>
            </a:r>
          </a:p>
          <a:p>
            <a:r>
              <a:rPr dirty="0"/>
              <a:t>Repeatability across runs confirms consistent detection.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MEMS sensors effectively detect and localize road irregularities.</a:t>
            </a:r>
          </a:p>
          <a:p>
            <a:r>
              <a:rPr dirty="0"/>
              <a:t>IMU+GPS fusion enables useful road roughness mapping.</a:t>
            </a:r>
          </a:p>
          <a:p>
            <a:r>
              <a:rPr dirty="0"/>
              <a:t>Suitable for low-cost maintenance prioritization.</a:t>
            </a:r>
          </a:p>
          <a:p>
            <a:r>
              <a:rPr dirty="0"/>
              <a:t>Future: Higher-rate GPS and fleet-based studies.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p</a:t>
            </a:r>
            <a:r>
              <a:rPr dirty="0"/>
              <a:t>rioritize repair at identified vibration hotspots.</a:t>
            </a:r>
          </a:p>
          <a:p>
            <a:r>
              <a:rPr lang="en-US" dirty="0"/>
              <a:t>To u</a:t>
            </a:r>
            <a:r>
              <a:rPr dirty="0"/>
              <a:t>se standardized mounting and sampling frequency.</a:t>
            </a:r>
          </a:p>
          <a:p>
            <a:r>
              <a:rPr lang="en-US" dirty="0"/>
              <a:t>To e</a:t>
            </a:r>
            <a:r>
              <a:rPr dirty="0"/>
              <a:t>mploy higher update rate GPS for better accuracy.</a:t>
            </a:r>
          </a:p>
          <a:p>
            <a:r>
              <a:rPr lang="en-US" dirty="0"/>
              <a:t>To r</a:t>
            </a:r>
            <a:r>
              <a:rPr dirty="0"/>
              <a:t>epeat experiments across speeds for detailed mapping.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BEE0C-DF0A-E7F8-8CC4-B2E0BD773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8BA96-B15F-D437-159A-03D6B2D73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Behaviour of Metro Coach on Newly Built Track in Kolkata – Prof. V. </a:t>
            </a:r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</a:rPr>
              <a:t>Racherla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</a:rPr>
              <a:t>Dr.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 S.K. Singh, </a:t>
            </a:r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</a:rPr>
              <a:t>Dr.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 H. </a:t>
            </a:r>
            <a:r>
              <a:rPr lang="en-IN" dirty="0" err="1">
                <a:latin typeface="Times New Roman" panose="02020603050405020304" pitchFamily="18" charset="0"/>
                <a:ea typeface="Calibri" panose="020F0502020204030204" pitchFamily="34" charset="0"/>
              </a:rPr>
              <a:t>Danawe</a:t>
            </a:r>
            <a:r>
              <a:rPr lang="en-IN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MPU-6050 Product Specification (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InvenSense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datasheet.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ADXL345 Datasheet (Analog Devices).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ISO 2631-1:1997 — Mechanical vibration and shock — Evaluation of human exposure to whole-body vibration.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831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D8EC0-E0E0-7550-46C5-353B4F3CB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334" y="2916865"/>
            <a:ext cx="6347713" cy="1320800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AD13D-F6F3-552D-395F-B422DB5DC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99868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{7666F5A1-0461-1941-B91F-F459ECB2CF84}tf10001060</Template>
  <TotalTime>122</TotalTime>
  <Words>386</Words>
  <Application>Microsoft Macintosh PowerPoint</Application>
  <PresentationFormat>On-screen Show (4:3)</PresentationFormat>
  <Paragraphs>53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</vt:lpstr>
      <vt:lpstr>Trebuchet MS</vt:lpstr>
      <vt:lpstr>Wingdings 3</vt:lpstr>
      <vt:lpstr>Facet</vt:lpstr>
      <vt:lpstr>Vibration Study of 2.2 Road (Gymkhana to Nehru Museum), IIT Kharagpur</vt:lpstr>
      <vt:lpstr>Problem Statement</vt:lpstr>
      <vt:lpstr>Objectives</vt:lpstr>
      <vt:lpstr>Study Area</vt:lpstr>
      <vt:lpstr>Equipment &amp; Specifications</vt:lpstr>
      <vt:lpstr>Connection Diagram</vt:lpstr>
      <vt:lpstr>Results</vt:lpstr>
      <vt:lpstr>Results</vt:lpstr>
      <vt:lpstr>Results</vt:lpstr>
      <vt:lpstr>Results</vt:lpstr>
      <vt:lpstr>Results</vt:lpstr>
      <vt:lpstr>Discussion</vt:lpstr>
      <vt:lpstr>Conclusions</vt:lpstr>
      <vt:lpstr>Recommendations</vt:lpstr>
      <vt:lpstr>References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Vibration Study of 2.2 Road (Gymkhana to Nehru Museum), IIT Kharagpur</dc:title>
  <dc:subject/>
  <dc:creator/>
  <cp:keywords/>
  <dc:description>generated using python-pptx</dc:description>
  <cp:lastModifiedBy>Riddhi Maiti</cp:lastModifiedBy>
  <cp:revision>4</cp:revision>
  <dcterms:created xsi:type="dcterms:W3CDTF">2013-01-27T09:14:16Z</dcterms:created>
  <dcterms:modified xsi:type="dcterms:W3CDTF">2025-11-12T06:06:03Z</dcterms:modified>
  <cp:category/>
</cp:coreProperties>
</file>